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03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594360"/>
            <a:ext cx="4106333" cy="1339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743200"/>
            <a:ext cx="79552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PLAN ESTRATÉGICO</a:t>
            </a:r>
            <a:br/>
            <a:r>
              <a:t>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BCFF"/>
                </a:solidFill>
              </a:defRPr>
            </a:pPr>
            <a:r>
              <a:t>Ecosistema de Partners NyTEX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EC3C8"/>
                </a:solidFill>
              </a:defRPr>
            </a:pPr>
            <a:r>
              <a:t>Modelo Delta · SaaS · Implementación estandarizada · Revenue Share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5264D"/>
                </a:solidFill>
                <a:latin typeface="Aptos Display"/>
              </a:defRPr>
            </a:pPr>
            <a:r>
              <a:t>1. 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  <a:latin typeface="Aptos"/>
              </a:defRPr>
            </a:pPr>
            <a:r>
              <a:t>La lógica comercial completa de NyTEX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  <a:latin typeface="Aptos"/>
              </a:defRPr>
            </a:pPr>
            <a:r>
              <a:t>NyTEX ERP  |  INTEGRA · OPTIMIZA · HAZ CRECER                                    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7472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73152" cy="155448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PROPUESTA DE VALOR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33025"/>
            <a:ext cx="2868473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ERP </a:t>
            </a:r>
            <a:r>
              <a:rPr dirty="0" err="1"/>
              <a:t>completo</a:t>
            </a:r>
            <a:r>
              <a:rPr dirty="0"/>
              <a:t> con </a:t>
            </a:r>
            <a:r>
              <a:rPr dirty="0" err="1"/>
              <a:t>modelo</a:t>
            </a:r>
            <a:r>
              <a:rPr dirty="0"/>
              <a:t> “Todo </a:t>
            </a:r>
            <a:r>
              <a:rPr dirty="0" err="1"/>
              <a:t>Incluido</a:t>
            </a:r>
            <a:r>
              <a:rPr dirty="0"/>
              <a:t>”: 15 </a:t>
            </a:r>
            <a:r>
              <a:rPr dirty="0" err="1"/>
              <a:t>módulos</a:t>
            </a:r>
            <a:r>
              <a:rPr dirty="0"/>
              <a:t> + hosting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nube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47472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73152" cy="155448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ESCALABILIDAD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39"/>
            <a:ext cx="2713025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NyTEX monetiza licencias recurrentes; los Partners ejecutan implementación, capacitación y soporte.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37360"/>
            <a:ext cx="347472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737360"/>
            <a:ext cx="73152" cy="155448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90195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TRANSPARENCIA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39"/>
            <a:ext cx="2551175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 err="1"/>
              <a:t>Precios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 </a:t>
            </a:r>
            <a:r>
              <a:rPr dirty="0" err="1"/>
              <a:t>estandarizados</a:t>
            </a:r>
            <a:r>
              <a:rPr dirty="0"/>
              <a:t> y </a:t>
            </a:r>
            <a:r>
              <a:rPr dirty="0" err="1"/>
              <a:t>facturación</a:t>
            </a:r>
            <a:r>
              <a:rPr dirty="0"/>
              <a:t> </a:t>
            </a:r>
            <a:r>
              <a:rPr dirty="0" err="1"/>
              <a:t>dividida</a:t>
            </a:r>
            <a:r>
              <a:rPr dirty="0"/>
              <a:t> para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costos</a:t>
            </a:r>
            <a:r>
              <a:rPr dirty="0"/>
              <a:t> </a:t>
            </a:r>
            <a:r>
              <a:rPr dirty="0" err="1"/>
              <a:t>ocultos</a:t>
            </a:r>
            <a:r>
              <a:rPr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1924"/>
                </a:solidFill>
                <a:latin typeface="Aptos"/>
              </a:defRPr>
            </a:pPr>
            <a:r>
              <a:t>• Objetivo comercial: competir con costo bajo y servicio superior, bajo la filosofía del Modelo Delta.</a:t>
            </a:r>
          </a:p>
          <a:p>
            <a:pPr>
              <a:spcAft>
                <a:spcPts val="1000"/>
              </a:spcAft>
              <a:defRPr sz="1700">
                <a:solidFill>
                  <a:srgbClr val="101924"/>
                </a:solidFill>
                <a:latin typeface="Aptos"/>
              </a:defRPr>
            </a:pPr>
            <a:r>
              <a:t>• Crecimiento apoyado por una red de Partners con incentivos de ingreso activo y recurrente.</a:t>
            </a:r>
          </a:p>
          <a:p>
            <a:pPr>
              <a:spcAft>
                <a:spcPts val="1000"/>
              </a:spcAft>
              <a:defRPr sz="1700">
                <a:solidFill>
                  <a:srgbClr val="101924"/>
                </a:solidFill>
                <a:latin typeface="Aptos"/>
              </a:defRPr>
            </a:pPr>
            <a:r>
              <a:t>• Operación sin fronteras: implementaciones remotas y asignación de prospectos donde no exista Partner local.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2. Filosofía comercial — Modelo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EC3C8"/>
                </a:solidFill>
                <a:latin typeface="Aptos"/>
              </a:defRPr>
            </a:pPr>
            <a:r>
              <a:t>“Total Customer Solution” como eje de la estrategia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  <a:latin typeface="Aptos"/>
              </a:defRPr>
            </a:pPr>
            <a:r>
              <a:t>NyTEX ERP  |  INTEGRA · OPTIMIZA · HAZ CRECER                                    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31089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310896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COSTO MÁS BAJO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2822753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 err="1"/>
              <a:t>Eliminar</a:t>
            </a:r>
            <a:r>
              <a:rPr dirty="0"/>
              <a:t> </a:t>
            </a:r>
            <a:r>
              <a:rPr dirty="0" err="1"/>
              <a:t>cobros</a:t>
            </a:r>
            <a:r>
              <a:rPr dirty="0"/>
              <a:t> </a:t>
            </a:r>
            <a:r>
              <a:rPr dirty="0" err="1"/>
              <a:t>fragmentados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módulos</a:t>
            </a:r>
            <a:r>
              <a:rPr dirty="0"/>
              <a:t> y </a:t>
            </a:r>
            <a:r>
              <a:rPr dirty="0" err="1"/>
              <a:t>reducir</a:t>
            </a:r>
            <a:r>
              <a:rPr dirty="0"/>
              <a:t> la </a:t>
            </a:r>
            <a:r>
              <a:rPr dirty="0" err="1"/>
              <a:t>percepción</a:t>
            </a:r>
            <a:r>
              <a:rPr dirty="0"/>
              <a:t> de </a:t>
            </a:r>
            <a:r>
              <a:rPr dirty="0" err="1"/>
              <a:t>costos</a:t>
            </a:r>
            <a:r>
              <a:rPr dirty="0"/>
              <a:t> </a:t>
            </a:r>
            <a:r>
              <a:rPr dirty="0" err="1"/>
              <a:t>ocultos</a:t>
            </a:r>
            <a:r>
              <a:rPr dirty="0"/>
              <a:t> de </a:t>
            </a:r>
            <a:r>
              <a:rPr dirty="0" err="1"/>
              <a:t>consultoría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83280" cy="31089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73152" cy="310896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9933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MEJOR SERVICIO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266730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Una </a:t>
            </a:r>
            <a:r>
              <a:rPr dirty="0" err="1"/>
              <a:t>solución</a:t>
            </a:r>
            <a:r>
              <a:rPr dirty="0"/>
              <a:t> </a:t>
            </a:r>
            <a:r>
              <a:rPr dirty="0" err="1"/>
              <a:t>empresarial</a:t>
            </a:r>
            <a:r>
              <a:rPr dirty="0"/>
              <a:t> completa, </a:t>
            </a:r>
            <a:r>
              <a:rPr dirty="0" err="1"/>
              <a:t>acompañada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Partners </a:t>
            </a:r>
            <a:r>
              <a:rPr dirty="0" err="1"/>
              <a:t>especializados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implementación</a:t>
            </a:r>
            <a:r>
              <a:rPr dirty="0"/>
              <a:t> y </a:t>
            </a:r>
            <a:r>
              <a:rPr dirty="0" err="1"/>
              <a:t>soporte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383280" cy="31089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73152" cy="310896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19933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TRANSPARENCIA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68880"/>
            <a:ext cx="2741023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 err="1"/>
              <a:t>Licencias</a:t>
            </a:r>
            <a:r>
              <a:rPr dirty="0"/>
              <a:t> simples, </a:t>
            </a:r>
            <a:r>
              <a:rPr dirty="0" err="1"/>
              <a:t>paquetes</a:t>
            </a:r>
            <a:r>
              <a:rPr dirty="0"/>
              <a:t> </a:t>
            </a:r>
            <a:r>
              <a:rPr dirty="0" err="1"/>
              <a:t>publicados</a:t>
            </a:r>
            <a:r>
              <a:rPr dirty="0"/>
              <a:t> y </a:t>
            </a:r>
            <a:r>
              <a:rPr dirty="0" err="1"/>
              <a:t>responsabilidades</a:t>
            </a:r>
            <a:r>
              <a:rPr dirty="0"/>
              <a:t> </a:t>
            </a:r>
            <a:r>
              <a:rPr dirty="0" err="1"/>
              <a:t>claras</a:t>
            </a:r>
            <a:r>
              <a:rPr dirty="0"/>
              <a:t> entre </a:t>
            </a:r>
            <a:r>
              <a:rPr dirty="0" err="1"/>
              <a:t>NyTEX</a:t>
            </a:r>
            <a:r>
              <a:rPr dirty="0"/>
              <a:t> y el Partner.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5264D"/>
                </a:solidFill>
                <a:latin typeface="Aptos Display"/>
              </a:defRPr>
            </a:pPr>
            <a:r>
              <a:t>3. Modelo de licenciamiento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  <a:latin typeface="Aptos"/>
              </a:defRPr>
            </a:pPr>
            <a:r>
              <a:t>Ingreso recurrente facturado directamente por NyTEX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  <a:latin typeface="Aptos"/>
              </a:defRPr>
            </a:pPr>
            <a:r>
              <a:t>NyTEX ERP  |  INTEGRA · OPTIMIZA · HAZ CRECER                                    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074920" cy="31089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73152" cy="310896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NyTEX TOTAL — $25 / usuario / 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Ideal para Pymes y empresas en crecimiento.</a:t>
            </a:r>
            <a:br/>
            <a:br/>
            <a:r>
              <a:t>• Acceso a los 15 módulos</a:t>
            </a:r>
            <a:br/>
            <a:r>
              <a:t>• Hosting en la nube</a:t>
            </a:r>
            <a:br/>
            <a:r>
              <a:t>• Pago por usuarios activos</a:t>
            </a:r>
            <a:br/>
            <a:r>
              <a:t>• ERP corporativo a precio de startup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074920" cy="31089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73152" cy="310896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99339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NyTEX ILIMITADO — $499 / 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66344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Tarifa plana por empresa para medianas y grandes.</a:t>
            </a:r>
            <a:br/>
            <a:br/>
            <a:r>
              <a:t>• Usuarios amplios sin disparar la factura</a:t>
            </a:r>
            <a:br/>
            <a:r>
              <a:t>• Facilita acceso a producción y fuerza de ventas</a:t>
            </a:r>
            <a:br/>
            <a:r>
              <a:t>• Democratiza el uso del sistema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1924"/>
                </a:solidFill>
                <a:latin typeface="Aptos"/>
              </a:defRPr>
            </a:pPr>
            <a:r>
              <a:t>• Principio comercial: “Todo Incluido”. El cliente no compra módulos por separado.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5264D"/>
                </a:solidFill>
                <a:latin typeface="Aptos Display"/>
              </a:defRPr>
            </a:pPr>
            <a:r>
              <a:t>4. Paquetes de 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  <a:latin typeface="Aptos"/>
              </a:defRPr>
            </a:pPr>
            <a:r>
              <a:t>Servicios facturados por el Partner directamente al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  <a:latin typeface="Aptos"/>
              </a:defRPr>
            </a:pPr>
            <a:r>
              <a:t>NyTEX ERP  |  INTEGRA · OPTIMIZA · HAZ CRECER                                    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65176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73152" cy="411480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AUTO-GUIADO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39"/>
            <a:ext cx="2014729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$0</a:t>
            </a:r>
            <a:br>
              <a:rPr dirty="0"/>
            </a:br>
            <a:br>
              <a:rPr dirty="0"/>
            </a:br>
            <a:r>
              <a:rPr dirty="0"/>
              <a:t>Go-Live: </a:t>
            </a:r>
            <a:r>
              <a:rPr dirty="0" err="1"/>
              <a:t>Inmediato</a:t>
            </a:r>
            <a:br>
              <a:rPr dirty="0"/>
            </a:br>
            <a:br>
              <a:rPr dirty="0"/>
            </a:br>
            <a:r>
              <a:rPr dirty="0"/>
              <a:t>Ideal: Micro-</a:t>
            </a:r>
            <a:r>
              <a:rPr dirty="0" err="1"/>
              <a:t>pymes</a:t>
            </a:r>
            <a:r>
              <a:rPr dirty="0"/>
              <a:t> · 1–3 </a:t>
            </a:r>
            <a:r>
              <a:rPr dirty="0" err="1"/>
              <a:t>usuarios</a:t>
            </a:r>
            <a:br>
              <a:rPr dirty="0"/>
            </a:br>
            <a:br>
              <a:rPr dirty="0"/>
            </a:br>
            <a:r>
              <a:rPr dirty="0"/>
              <a:t>Wizard, 1 </a:t>
            </a:r>
            <a:r>
              <a:rPr dirty="0" err="1"/>
              <a:t>módulo</a:t>
            </a:r>
            <a:r>
              <a:rPr dirty="0"/>
              <a:t>, academia </a:t>
            </a:r>
            <a:r>
              <a:rPr dirty="0" err="1"/>
              <a:t>en</a:t>
            </a:r>
            <a:r>
              <a:rPr dirty="0"/>
              <a:t> video, </a:t>
            </a:r>
            <a:r>
              <a:rPr dirty="0" err="1"/>
              <a:t>plantillas</a:t>
            </a:r>
            <a:r>
              <a:rPr dirty="0"/>
              <a:t> y </a:t>
            </a:r>
            <a:r>
              <a:rPr dirty="0" err="1"/>
              <a:t>soporte</a:t>
            </a:r>
            <a:r>
              <a:rPr dirty="0"/>
              <a:t> email.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737360"/>
            <a:ext cx="265176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737360"/>
            <a:ext cx="73152" cy="411480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190195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377439"/>
            <a:ext cx="1874519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$1,500</a:t>
            </a:r>
            <a:br>
              <a:rPr dirty="0"/>
            </a:br>
            <a:br>
              <a:rPr dirty="0"/>
            </a:br>
            <a:r>
              <a:rPr dirty="0"/>
              <a:t>Go-Live: 2–3 </a:t>
            </a:r>
            <a:r>
              <a:rPr dirty="0" err="1"/>
              <a:t>semanas</a:t>
            </a:r>
            <a:br>
              <a:rPr dirty="0"/>
            </a:br>
            <a:br>
              <a:rPr dirty="0"/>
            </a:br>
            <a:r>
              <a:rPr dirty="0"/>
              <a:t>Ideal: </a:t>
            </a:r>
            <a:r>
              <a:rPr dirty="0" err="1"/>
              <a:t>Pequeñas</a:t>
            </a:r>
            <a:r>
              <a:rPr dirty="0"/>
              <a:t> </a:t>
            </a:r>
            <a:r>
              <a:rPr dirty="0" err="1"/>
              <a:t>empresas</a:t>
            </a:r>
            <a:br>
              <a:rPr dirty="0"/>
            </a:br>
            <a:br>
              <a:rPr dirty="0"/>
            </a:br>
            <a:r>
              <a:rPr dirty="0"/>
              <a:t>Partner, hasta 3 </a:t>
            </a:r>
            <a:r>
              <a:rPr dirty="0" err="1"/>
              <a:t>módulos</a:t>
            </a:r>
            <a:r>
              <a:rPr dirty="0"/>
              <a:t>, </a:t>
            </a:r>
            <a:r>
              <a:rPr dirty="0" err="1"/>
              <a:t>migración</a:t>
            </a:r>
            <a:r>
              <a:rPr dirty="0"/>
              <a:t> </a:t>
            </a:r>
            <a:r>
              <a:rPr dirty="0" err="1"/>
              <a:t>básica</a:t>
            </a:r>
            <a:r>
              <a:rPr dirty="0"/>
              <a:t> y </a:t>
            </a:r>
            <a:r>
              <a:rPr dirty="0" err="1"/>
              <a:t>capacitación</a:t>
            </a:r>
            <a:r>
              <a:rPr dirty="0"/>
              <a:t> online.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737360"/>
            <a:ext cx="265176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18504" y="1737360"/>
            <a:ext cx="73152" cy="41148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47104" y="190195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5" y="2377439"/>
            <a:ext cx="2038096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$4,500</a:t>
            </a:r>
            <a:br>
              <a:rPr dirty="0"/>
            </a:br>
            <a:br>
              <a:rPr dirty="0"/>
            </a:br>
            <a:r>
              <a:rPr dirty="0"/>
              <a:t>Go-Live: 1–2 meses</a:t>
            </a:r>
            <a:br>
              <a:rPr dirty="0"/>
            </a:br>
            <a:br>
              <a:rPr dirty="0"/>
            </a:br>
            <a:r>
              <a:rPr dirty="0"/>
              <a:t>Ideal: </a:t>
            </a:r>
            <a:r>
              <a:rPr dirty="0" err="1"/>
              <a:t>Medianas</a:t>
            </a:r>
            <a:r>
              <a:rPr dirty="0"/>
              <a:t> </a:t>
            </a:r>
            <a:r>
              <a:rPr dirty="0" err="1"/>
              <a:t>empresas</a:t>
            </a:r>
            <a:br>
              <a:rPr dirty="0"/>
            </a:br>
            <a:br>
              <a:rPr dirty="0"/>
            </a:br>
            <a:r>
              <a:rPr dirty="0"/>
              <a:t>GAP Analysis, hasta 10 </a:t>
            </a:r>
            <a:r>
              <a:rPr dirty="0" err="1"/>
              <a:t>módulos</a:t>
            </a:r>
            <a:r>
              <a:rPr dirty="0"/>
              <a:t>, </a:t>
            </a:r>
            <a:r>
              <a:rPr dirty="0" err="1"/>
              <a:t>automatizaciones</a:t>
            </a:r>
            <a:r>
              <a:rPr dirty="0"/>
              <a:t> y 1 </a:t>
            </a:r>
            <a:r>
              <a:rPr dirty="0" err="1"/>
              <a:t>mes</a:t>
            </a:r>
            <a:r>
              <a:rPr dirty="0"/>
              <a:t> post-salida.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6296" y="1737360"/>
            <a:ext cx="265176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26296" y="1737360"/>
            <a:ext cx="73152" cy="4114800"/>
          </a:xfrm>
          <a:prstGeom prst="rect">
            <a:avLst/>
          </a:prstGeom>
          <a:solidFill>
            <a:srgbClr val="05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54896" y="190195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7" y="2377439"/>
            <a:ext cx="200558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A </a:t>
            </a:r>
            <a:r>
              <a:rPr dirty="0" err="1"/>
              <a:t>medida</a:t>
            </a:r>
            <a:br>
              <a:rPr dirty="0"/>
            </a:br>
            <a:br>
              <a:rPr dirty="0"/>
            </a:br>
            <a:r>
              <a:rPr dirty="0"/>
              <a:t>Go-Live: 3+ meses</a:t>
            </a:r>
            <a:br>
              <a:rPr dirty="0"/>
            </a:br>
            <a:br>
              <a:rPr dirty="0"/>
            </a:br>
            <a:r>
              <a:rPr dirty="0"/>
              <a:t>Ideal: </a:t>
            </a:r>
            <a:r>
              <a:rPr dirty="0" err="1"/>
              <a:t>Corporativos</a:t>
            </a:r>
            <a:br>
              <a:rPr dirty="0"/>
            </a:br>
            <a:br>
              <a:rPr dirty="0"/>
            </a:br>
            <a:r>
              <a:rPr dirty="0"/>
              <a:t>APIs, </a:t>
            </a:r>
            <a:r>
              <a:rPr dirty="0" err="1"/>
              <a:t>desarrollos</a:t>
            </a:r>
            <a:r>
              <a:rPr dirty="0"/>
              <a:t> a </a:t>
            </a:r>
            <a:r>
              <a:rPr dirty="0" err="1"/>
              <a:t>medida</a:t>
            </a:r>
            <a:r>
              <a:rPr dirty="0"/>
              <a:t> e </a:t>
            </a:r>
            <a:r>
              <a:rPr dirty="0" err="1"/>
              <a:t>intensas</a:t>
            </a:r>
            <a:r>
              <a:rPr dirty="0"/>
              <a:t> </a:t>
            </a:r>
            <a:r>
              <a:rPr dirty="0" err="1"/>
              <a:t>pruebas</a:t>
            </a:r>
            <a:r>
              <a:rPr dirty="0"/>
              <a:t> UAT.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5. Split Billing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EC3C8"/>
                </a:solidFill>
                <a:latin typeface="Aptos"/>
              </a:defRPr>
            </a:pPr>
            <a:r>
              <a:t>Separación clara entre software y servicios profesionales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  <a:latin typeface="Aptos"/>
              </a:defRPr>
            </a:pPr>
            <a:r>
              <a:t>NyTEX ERP  |  INTEGRA · OPTIMIZA · HAZ CRECER                                    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2926080" cy="23774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73152" cy="237744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176272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51760"/>
            <a:ext cx="251460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 err="1"/>
              <a:t>Contrata</a:t>
            </a:r>
            <a:r>
              <a:rPr dirty="0"/>
              <a:t> la </a:t>
            </a:r>
            <a:r>
              <a:rPr dirty="0" err="1"/>
              <a:t>suscripción</a:t>
            </a:r>
            <a:r>
              <a:rPr dirty="0"/>
              <a:t> SaaS y,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corresponde</a:t>
            </a:r>
            <a:r>
              <a:rPr dirty="0"/>
              <a:t>, un </a:t>
            </a:r>
            <a:r>
              <a:rPr dirty="0" err="1"/>
              <a:t>paquete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508760"/>
            <a:ext cx="29718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1508760"/>
            <a:ext cx="73152" cy="182880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673351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NyTEX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48839"/>
            <a:ext cx="2368296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Cobra </a:t>
            </a:r>
            <a:r>
              <a:rPr dirty="0" err="1"/>
              <a:t>directamente</a:t>
            </a:r>
            <a:r>
              <a:rPr dirty="0"/>
              <a:t> </a:t>
            </a:r>
            <a:r>
              <a:rPr dirty="0" err="1"/>
              <a:t>licencias</a:t>
            </a:r>
            <a:r>
              <a:rPr dirty="0"/>
              <a:t> </a:t>
            </a:r>
            <a:r>
              <a:rPr dirty="0" err="1"/>
              <a:t>mensuales</a:t>
            </a:r>
            <a:r>
              <a:rPr dirty="0"/>
              <a:t> o </a:t>
            </a:r>
            <a:r>
              <a:rPr dirty="0" err="1"/>
              <a:t>anuales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la </a:t>
            </a:r>
            <a:r>
              <a:rPr dirty="0" err="1"/>
              <a:t>plataforma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840480"/>
            <a:ext cx="29718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17720" y="3840480"/>
            <a:ext cx="73152" cy="18288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400507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480560"/>
            <a:ext cx="2295144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Factura 100% de sus </a:t>
            </a:r>
            <a:r>
              <a:rPr dirty="0" err="1"/>
              <a:t>honorarios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implementación</a:t>
            </a:r>
            <a:r>
              <a:rPr dirty="0"/>
              <a:t>, </a:t>
            </a:r>
            <a:r>
              <a:rPr dirty="0" err="1"/>
              <a:t>capacitación</a:t>
            </a:r>
            <a:r>
              <a:rPr dirty="0"/>
              <a:t> y </a:t>
            </a:r>
            <a:r>
              <a:rPr dirty="0" err="1"/>
              <a:t>soporte</a:t>
            </a:r>
            <a:r>
              <a:rPr dirty="0"/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2011680"/>
            <a:ext cx="2926080" cy="23774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58200" y="2011680"/>
            <a:ext cx="73152" cy="237744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2176272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RESULTADO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651760"/>
            <a:ext cx="2314448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 err="1"/>
              <a:t>Escalabilidad</a:t>
            </a:r>
            <a:r>
              <a:rPr dirty="0"/>
              <a:t>, </a:t>
            </a:r>
            <a:r>
              <a:rPr dirty="0" err="1"/>
              <a:t>transparencia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y </a:t>
            </a:r>
            <a:r>
              <a:rPr dirty="0" err="1"/>
              <a:t>responsabilidades</a:t>
            </a:r>
            <a:r>
              <a:rPr dirty="0"/>
              <a:t> </a:t>
            </a:r>
            <a:r>
              <a:rPr dirty="0" err="1"/>
              <a:t>separadas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5264D"/>
                </a:solidFill>
                <a:latin typeface="Aptos Display"/>
              </a:defRPr>
            </a:pPr>
            <a:r>
              <a:t>6. Ecosistema Win–Win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  <a:latin typeface="Aptos"/>
              </a:defRPr>
            </a:pPr>
            <a:r>
              <a:t>El diseño de incentivos alinea a cliente, NyTEX y Partner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  <a:latin typeface="Aptos"/>
              </a:defRPr>
            </a:pPr>
            <a:r>
              <a:t>NyTEX ERP  |  INTEGRA · OPTIMIZA · HAZ CRECER                                    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32918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329184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GANA EL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264901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iniciar</a:t>
            </a:r>
            <a:r>
              <a:rPr dirty="0"/>
              <a:t> Auto-</a:t>
            </a:r>
            <a:r>
              <a:rPr dirty="0" err="1"/>
              <a:t>Guiado</a:t>
            </a:r>
            <a:r>
              <a:rPr dirty="0"/>
              <a:t> a $0 o </a:t>
            </a:r>
            <a:r>
              <a:rPr dirty="0" err="1"/>
              <a:t>contratar</a:t>
            </a:r>
            <a:r>
              <a:rPr dirty="0"/>
              <a:t> </a:t>
            </a:r>
            <a:r>
              <a:rPr dirty="0" err="1"/>
              <a:t>implementación</a:t>
            </a:r>
            <a:r>
              <a:rPr dirty="0"/>
              <a:t> </a:t>
            </a:r>
            <a:r>
              <a:rPr dirty="0" err="1"/>
              <a:t>estandarizada</a:t>
            </a:r>
            <a:r>
              <a:rPr dirty="0"/>
              <a:t>. </a:t>
            </a:r>
            <a:r>
              <a:rPr dirty="0" err="1"/>
              <a:t>Obtiene</a:t>
            </a:r>
            <a:r>
              <a:rPr dirty="0"/>
              <a:t> </a:t>
            </a:r>
            <a:r>
              <a:rPr dirty="0" err="1"/>
              <a:t>claridad</a:t>
            </a:r>
            <a:r>
              <a:rPr dirty="0"/>
              <a:t> de </a:t>
            </a:r>
            <a:r>
              <a:rPr dirty="0" err="1"/>
              <a:t>precio</a:t>
            </a:r>
            <a:r>
              <a:rPr dirty="0"/>
              <a:t> y </a:t>
            </a:r>
            <a:r>
              <a:rPr dirty="0" err="1"/>
              <a:t>libertad</a:t>
            </a:r>
            <a:r>
              <a:rPr dirty="0"/>
              <a:t> de </a:t>
            </a:r>
            <a:r>
              <a:rPr dirty="0" err="1"/>
              <a:t>elección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828800"/>
            <a:ext cx="3383280" cy="32918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828800"/>
            <a:ext cx="73152" cy="329184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19933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GANA NyTEX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468880"/>
            <a:ext cx="24701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Escala el </a:t>
            </a:r>
            <a:r>
              <a:rPr dirty="0" err="1"/>
              <a:t>volumen</a:t>
            </a:r>
            <a:r>
              <a:rPr dirty="0"/>
              <a:t> de </a:t>
            </a:r>
            <a:r>
              <a:rPr dirty="0" err="1"/>
              <a:t>licencias</a:t>
            </a:r>
            <a:r>
              <a:rPr dirty="0"/>
              <a:t> </a:t>
            </a:r>
            <a:r>
              <a:rPr dirty="0" err="1"/>
              <a:t>recurrentes</a:t>
            </a:r>
            <a:r>
              <a:rPr dirty="0"/>
              <a:t> y </a:t>
            </a:r>
            <a:r>
              <a:rPr dirty="0" err="1"/>
              <a:t>delega</a:t>
            </a:r>
            <a:r>
              <a:rPr dirty="0"/>
              <a:t> el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intensivo</a:t>
            </a:r>
            <a:r>
              <a:rPr dirty="0"/>
              <a:t> de </a:t>
            </a:r>
            <a:r>
              <a:rPr dirty="0" err="1"/>
              <a:t>consultoría</a:t>
            </a:r>
            <a:r>
              <a:rPr dirty="0"/>
              <a:t> e </a:t>
            </a:r>
            <a:r>
              <a:rPr dirty="0" err="1"/>
              <a:t>implementación</a:t>
            </a:r>
            <a:r>
              <a:rPr dirty="0"/>
              <a:t> a la 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828800"/>
            <a:ext cx="3383280" cy="32918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73152" cy="329184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1896" y="19933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GANA EL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468880"/>
            <a:ext cx="2601686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 err="1"/>
              <a:t>Ingreso</a:t>
            </a:r>
            <a:r>
              <a:rPr dirty="0"/>
              <a:t> </a:t>
            </a:r>
            <a:r>
              <a:rPr dirty="0" err="1"/>
              <a:t>activo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implementación</a:t>
            </a:r>
            <a:r>
              <a:rPr dirty="0"/>
              <a:t> + 30% </a:t>
            </a:r>
            <a:r>
              <a:rPr dirty="0" err="1"/>
              <a:t>recurrente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licencias</a:t>
            </a:r>
            <a:r>
              <a:rPr dirty="0"/>
              <a:t> de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referidos</a:t>
            </a:r>
            <a:r>
              <a:rPr dirty="0"/>
              <a:t> y </a:t>
            </a:r>
            <a:r>
              <a:rPr dirty="0" err="1"/>
              <a:t>gestionados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5264D"/>
                </a:solidFill>
                <a:latin typeface="Aptos Display"/>
              </a:defRPr>
            </a:pPr>
            <a:r>
              <a:t>7. Economía del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  <a:latin typeface="Aptos"/>
              </a:defRPr>
            </a:pPr>
            <a:r>
              <a:t>Dos motores de ingreso dentro del ecosistema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  <a:latin typeface="Aptos"/>
              </a:defRPr>
            </a:pPr>
            <a:r>
              <a:t>NyTEX ERP  |  INTEGRA · OPTIMIZA · HAZ CRECER                                    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29260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73152" cy="292608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INGRESO ACTIVO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57200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Cobro directo de paquetes de implementación:</a:t>
            </a:r>
            <a:br/>
            <a:br/>
            <a:r>
              <a:t>Express: $1,500</a:t>
            </a:r>
            <a:br/>
            <a:r>
              <a:t>Advanced: $4,500</a:t>
            </a:r>
            <a:br/>
            <a:r>
              <a:t>Enterprise: cotización a medida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4983480" cy="29260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73152" cy="292608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99339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INGRESO RECURRENTE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68880"/>
            <a:ext cx="4498848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Revenue Share del 30% </a:t>
            </a:r>
            <a:r>
              <a:rPr dirty="0" err="1"/>
              <a:t>mensual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el valor </a:t>
            </a:r>
            <a:r>
              <a:rPr dirty="0" err="1"/>
              <a:t>neto</a:t>
            </a:r>
            <a:r>
              <a:rPr dirty="0"/>
              <a:t> de </a:t>
            </a:r>
            <a:r>
              <a:rPr dirty="0" err="1"/>
              <a:t>licencias</a:t>
            </a:r>
            <a:r>
              <a:rPr dirty="0"/>
              <a:t> de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referidos</a:t>
            </a:r>
            <a:r>
              <a:rPr dirty="0"/>
              <a:t> y </a:t>
            </a:r>
            <a:r>
              <a:rPr dirty="0" err="1"/>
              <a:t>gestionados</a:t>
            </a:r>
            <a:r>
              <a:rPr dirty="0"/>
              <a:t>, </a:t>
            </a:r>
            <a:r>
              <a:rPr dirty="0" err="1"/>
              <a:t>mientras</a:t>
            </a:r>
            <a:r>
              <a:rPr dirty="0"/>
              <a:t> la </a:t>
            </a:r>
            <a:r>
              <a:rPr dirty="0" err="1"/>
              <a:t>suscripción</a:t>
            </a:r>
            <a:r>
              <a:rPr dirty="0"/>
              <a:t> </a:t>
            </a:r>
            <a:r>
              <a:rPr dirty="0" err="1"/>
              <a:t>esté</a:t>
            </a:r>
            <a:r>
              <a:rPr dirty="0"/>
              <a:t> </a:t>
            </a:r>
            <a:r>
              <a:rPr dirty="0" err="1"/>
              <a:t>activa</a:t>
            </a:r>
            <a:r>
              <a:rPr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1924"/>
                </a:solidFill>
                <a:latin typeface="Aptos"/>
              </a:defRPr>
            </a:pPr>
            <a:r>
              <a:t>• Los clientes Auto-Guiados también generan comisión recurrente y quedan vinculados a la cartera del Partner para servicios futuros.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8. Modelo operativo del ecosistema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EC3C8"/>
                </a:solidFill>
                <a:latin typeface="Aptos"/>
              </a:defRPr>
            </a:pPr>
            <a:r>
              <a:t>Venta sin fronteras y capacidad de implementación remota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  <a:latin typeface="Aptos"/>
              </a:defRPr>
            </a:pPr>
            <a:r>
              <a:t>NyTEX ERP  |  INTEGRA · OPTIMIZA · HAZ CRECER                                    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11680"/>
            <a:ext cx="2011680" cy="2743200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1EB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264D"/>
                </a:solidFill>
              </a:defRPr>
            </a:pPr>
            <a:r>
              <a:t>CAPTACIÓN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161882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924"/>
                </a:solidFill>
              </a:defRPr>
            </a:pPr>
            <a:r>
              <a:rPr dirty="0" err="1"/>
              <a:t>NyTEX</a:t>
            </a:r>
            <a:r>
              <a:rPr dirty="0"/>
              <a:t> o Partner genera el </a:t>
            </a:r>
            <a:r>
              <a:rPr dirty="0" err="1"/>
              <a:t>prospecto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011680"/>
            <a:ext cx="2011680" cy="2743200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1EB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97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264D"/>
                </a:solidFill>
              </a:defRPr>
            </a:pPr>
            <a:r>
              <a:t>LICENCIA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46120"/>
            <a:ext cx="1276773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924"/>
                </a:solidFill>
              </a:defRPr>
            </a:pPr>
            <a:r>
              <a:rPr dirty="0" err="1"/>
              <a:t>NyTEX</a:t>
            </a:r>
            <a:r>
              <a:rPr dirty="0"/>
              <a:t> factura el SaaS al </a:t>
            </a:r>
            <a:r>
              <a:rPr dirty="0" err="1"/>
              <a:t>cliente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2011680"/>
            <a:ext cx="2011680" cy="2743200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21488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1EB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697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264D"/>
                </a:solidFill>
              </a:defRPr>
            </a:pPr>
            <a:r>
              <a:t>ASIGNACIÓN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46120"/>
            <a:ext cx="1434253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924"/>
                </a:solidFill>
              </a:defRPr>
            </a:pPr>
            <a:r>
              <a:rPr dirty="0"/>
              <a:t>Se </a:t>
            </a:r>
            <a:r>
              <a:rPr dirty="0" err="1"/>
              <a:t>asigna</a:t>
            </a:r>
            <a:r>
              <a:rPr dirty="0"/>
              <a:t> Partner local o </a:t>
            </a:r>
            <a:r>
              <a:rPr dirty="0" err="1"/>
              <a:t>remoto</a:t>
            </a:r>
            <a:r>
              <a:rPr dirty="0"/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011680"/>
            <a:ext cx="2011680" cy="2743200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1488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1EB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697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264D"/>
                </a:solidFill>
              </a:defRPr>
            </a:pPr>
            <a:r>
              <a:t>IMPLEMENTACIÓN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246120"/>
            <a:ext cx="152400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924"/>
                </a:solidFill>
              </a:defRPr>
            </a:pPr>
            <a:r>
              <a:rPr dirty="0"/>
              <a:t>Partner </a:t>
            </a:r>
            <a:r>
              <a:rPr dirty="0" err="1"/>
              <a:t>configura</a:t>
            </a:r>
            <a:r>
              <a:rPr dirty="0"/>
              <a:t>, </a:t>
            </a:r>
            <a:r>
              <a:rPr dirty="0" err="1"/>
              <a:t>migra</a:t>
            </a:r>
            <a:r>
              <a:rPr dirty="0"/>
              <a:t>, </a:t>
            </a:r>
            <a:r>
              <a:rPr dirty="0" err="1"/>
              <a:t>capacita</a:t>
            </a:r>
            <a:r>
              <a:rPr dirty="0"/>
              <a:t> y </a:t>
            </a:r>
            <a:r>
              <a:rPr dirty="0" err="1"/>
              <a:t>acompaña</a:t>
            </a:r>
            <a:r>
              <a:rPr dirty="0"/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59" y="2011680"/>
            <a:ext cx="2011680" cy="2743200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19" y="21488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1EB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697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264D"/>
                </a:solidFill>
              </a:defRPr>
            </a:pPr>
            <a:r>
              <a:t>RECURRENCIA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246120"/>
            <a:ext cx="1452881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924"/>
                </a:solidFill>
              </a:defRPr>
            </a:pPr>
            <a:r>
              <a:rPr dirty="0" err="1"/>
              <a:t>NyTEX</a:t>
            </a:r>
            <a:r>
              <a:rPr dirty="0"/>
              <a:t> </a:t>
            </a:r>
            <a:r>
              <a:rPr dirty="0" err="1"/>
              <a:t>liquida</a:t>
            </a:r>
            <a:r>
              <a:rPr dirty="0"/>
              <a:t> el 30% de </a:t>
            </a:r>
            <a:r>
              <a:rPr dirty="0" err="1"/>
              <a:t>comisión</a:t>
            </a:r>
            <a:r>
              <a:rPr dirty="0"/>
              <a:t> </a:t>
            </a:r>
            <a:r>
              <a:rPr dirty="0" err="1"/>
              <a:t>aplicable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5264D"/>
                </a:solidFill>
                <a:latin typeface="Aptos Display"/>
              </a:defRPr>
            </a:pPr>
            <a:r>
              <a:t>9. Acuerdo de Business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  <a:latin typeface="Aptos"/>
              </a:defRPr>
            </a:pPr>
            <a:r>
              <a:t>Reglas comerciales y de protección del ecosistema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  <a:latin typeface="Aptos"/>
              </a:defRPr>
            </a:pPr>
            <a:r>
              <a:t>NyTEX ERP  |  INTEGRA · OPTIMIZA · HAZ CRECER                                    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1924"/>
                </a:solidFill>
                <a:latin typeface="Aptos"/>
              </a:defRPr>
            </a:pPr>
            <a:r>
              <a:t>• Objeto: autorización para comercializar licencias NyTEX y prestar implementación, capacitación y soporte como consultor independiente.</a:t>
            </a:r>
          </a:p>
          <a:p>
            <a:pPr>
              <a:spcAft>
                <a:spcPts val="1000"/>
              </a:spcAft>
              <a:defRPr sz="1600">
                <a:solidFill>
                  <a:srgbClr val="101924"/>
                </a:solidFill>
                <a:latin typeface="Aptos"/>
              </a:defRPr>
            </a:pPr>
            <a:r>
              <a:t>• Facturación: NyTEX cobra licencias; el Partner factura sus servicios profesionales.</a:t>
            </a:r>
          </a:p>
          <a:p>
            <a:pPr>
              <a:spcAft>
                <a:spcPts val="1000"/>
              </a:spcAft>
              <a:defRPr sz="1600">
                <a:solidFill>
                  <a:srgbClr val="101924"/>
                </a:solidFill>
                <a:latin typeface="Aptos"/>
              </a:defRPr>
            </a:pPr>
            <a:r>
              <a:t>• Tarifas: Express y Advanced siguen precios oficiales; Enterprise permite cotización superior cuando hay desarrollos o integraciones complejas.</a:t>
            </a:r>
          </a:p>
          <a:p>
            <a:pPr>
              <a:spcAft>
                <a:spcPts val="1000"/>
              </a:spcAft>
              <a:defRPr sz="1600">
                <a:solidFill>
                  <a:srgbClr val="101924"/>
                </a:solidFill>
                <a:latin typeface="Aptos"/>
              </a:defRPr>
            </a:pPr>
            <a:r>
              <a:t>• Comisiones: 30% recurrente sobre el valor neto pagado por clientes referidos y gestionados.</a:t>
            </a:r>
          </a:p>
          <a:p>
            <a:pPr>
              <a:spcAft>
                <a:spcPts val="1000"/>
              </a:spcAft>
              <a:defRPr sz="1600">
                <a:solidFill>
                  <a:srgbClr val="101924"/>
                </a:solidFill>
                <a:latin typeface="Aptos"/>
              </a:defRPr>
            </a:pPr>
            <a:r>
              <a:t>• Auto-Guiado: conserva comisión recurrente y exclusividad del Partner para servicios humanos futuros.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10. Propiedad intelectual, SLA y control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EC3C8"/>
                </a:solidFill>
                <a:latin typeface="Aptos"/>
              </a:defRPr>
            </a:pPr>
            <a:r>
              <a:t>Protección del código y estándares de servicio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  <a:latin typeface="Aptos"/>
              </a:defRPr>
            </a:pPr>
            <a:r>
              <a:t>NyTEX ERP  |  INTEGRA · OPTIMIZA · HAZ CRECER                                    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029200" cy="32918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73152" cy="329184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4617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PROPIEDAD INTELECTUAL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3251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 err="1"/>
              <a:t>NyTEX</a:t>
            </a:r>
            <a:r>
              <a:rPr dirty="0"/>
              <a:t> opera </a:t>
            </a:r>
            <a:r>
              <a:rPr dirty="0" err="1"/>
              <a:t>como</a:t>
            </a:r>
            <a:r>
              <a:rPr dirty="0"/>
              <a:t> SaaS. El Partner </a:t>
            </a:r>
            <a:r>
              <a:rPr dirty="0" err="1"/>
              <a:t>implementa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la </a:t>
            </a:r>
            <a:r>
              <a:rPr dirty="0" err="1"/>
              <a:t>interfaz</a:t>
            </a:r>
            <a:r>
              <a:rPr dirty="0"/>
              <a:t> de </a:t>
            </a:r>
            <a:r>
              <a:rPr dirty="0" err="1"/>
              <a:t>configuración</a:t>
            </a:r>
            <a:r>
              <a:rPr dirty="0"/>
              <a:t> y APIs </a:t>
            </a:r>
            <a:r>
              <a:rPr dirty="0" err="1"/>
              <a:t>públicas</a:t>
            </a:r>
            <a:r>
              <a:rPr dirty="0"/>
              <a:t>; no accede al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. </a:t>
            </a:r>
            <a:r>
              <a:rPr dirty="0" err="1"/>
              <a:t>Arquitectura</a:t>
            </a:r>
            <a:r>
              <a:rPr dirty="0"/>
              <a:t>, bases de </a:t>
            </a:r>
            <a:r>
              <a:rPr dirty="0" err="1"/>
              <a:t>datos</a:t>
            </a:r>
            <a:r>
              <a:rPr dirty="0"/>
              <a:t> y </a:t>
            </a:r>
            <a:r>
              <a:rPr dirty="0" err="1"/>
              <a:t>marca</a:t>
            </a:r>
            <a:r>
              <a:rPr dirty="0"/>
              <a:t> </a:t>
            </a:r>
            <a:r>
              <a:rPr dirty="0" err="1"/>
              <a:t>permanecen</a:t>
            </a:r>
            <a:r>
              <a:rPr dirty="0"/>
              <a:t> bajo </a:t>
            </a:r>
            <a:r>
              <a:rPr dirty="0" err="1"/>
              <a:t>propiedad</a:t>
            </a:r>
            <a:r>
              <a:rPr dirty="0"/>
              <a:t> de </a:t>
            </a:r>
            <a:r>
              <a:rPr dirty="0" err="1"/>
              <a:t>NyTEX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029200" cy="32918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73152" cy="329184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993392"/>
            <a:ext cx="4617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CALIDAD Y 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68880"/>
            <a:ext cx="426241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/>
              <a:t>La </a:t>
            </a:r>
            <a:r>
              <a:rPr dirty="0" err="1"/>
              <a:t>operación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ser 100% remota y global. </a:t>
            </a:r>
            <a:r>
              <a:rPr dirty="0" err="1"/>
              <a:t>NyTEX</a:t>
            </a:r>
            <a:r>
              <a:rPr dirty="0"/>
              <a:t> se </a:t>
            </a:r>
            <a:r>
              <a:rPr dirty="0" err="1"/>
              <a:t>reserva</a:t>
            </a:r>
            <a:r>
              <a:rPr dirty="0"/>
              <a:t> la </a:t>
            </a:r>
            <a:r>
              <a:rPr dirty="0" err="1"/>
              <a:t>posibilidad</a:t>
            </a:r>
            <a:r>
              <a:rPr dirty="0"/>
              <a:t> de </a:t>
            </a:r>
            <a:r>
              <a:rPr dirty="0" err="1"/>
              <a:t>revocar</a:t>
            </a:r>
            <a:r>
              <a:rPr dirty="0"/>
              <a:t> </a:t>
            </a:r>
            <a:r>
              <a:rPr dirty="0" err="1"/>
              <a:t>estatus</a:t>
            </a:r>
            <a:r>
              <a:rPr dirty="0"/>
              <a:t> y </a:t>
            </a:r>
            <a:r>
              <a:rPr dirty="0" err="1"/>
              <a:t>reasignar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/</a:t>
            </a:r>
            <a:r>
              <a:rPr dirty="0" err="1"/>
              <a:t>comisiones</a:t>
            </a:r>
            <a:r>
              <a:rPr dirty="0"/>
              <a:t> ante </a:t>
            </a:r>
            <a:r>
              <a:rPr dirty="0" err="1"/>
              <a:t>quejas</a:t>
            </a:r>
            <a:r>
              <a:rPr dirty="0"/>
              <a:t> graves, </a:t>
            </a:r>
            <a:r>
              <a:rPr dirty="0" err="1"/>
              <a:t>abandono</a:t>
            </a:r>
            <a:r>
              <a:rPr dirty="0"/>
              <a:t> o </a:t>
            </a:r>
            <a:r>
              <a:rPr dirty="0" err="1"/>
              <a:t>incumplimiento</a:t>
            </a:r>
            <a:r>
              <a:rPr dirty="0"/>
              <a:t> de </a:t>
            </a:r>
            <a:r>
              <a:rPr dirty="0" err="1"/>
              <a:t>estándares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5264D"/>
                </a:solidFill>
                <a:latin typeface="Aptos Display"/>
              </a:defRPr>
            </a:pPr>
            <a:r>
              <a:t>11. Motor de crecimiento NyTEX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  <a:latin typeface="Aptos"/>
              </a:defRPr>
            </a:pPr>
            <a:r>
              <a:t>Cómo se refuerzan las piezas del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  <a:latin typeface="Aptos"/>
              </a:defRPr>
            </a:pPr>
            <a:r>
              <a:t>NyTEX ERP  |  INTEGRA · OPTIMIZA · HAZ CRECER                                    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375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3152" cy="160020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0195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Precio 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39"/>
            <a:ext cx="2926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Reduce fricción comercial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33375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60020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90195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Todo incluido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77439"/>
            <a:ext cx="2926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Aumenta valor percibido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3375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73152" cy="16002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90195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77439"/>
            <a:ext cx="279196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rPr dirty="0" err="1"/>
              <a:t>Amplían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de </a:t>
            </a:r>
            <a:r>
              <a:rPr dirty="0" err="1"/>
              <a:t>venta</a:t>
            </a:r>
            <a:r>
              <a:rPr dirty="0"/>
              <a:t> e </a:t>
            </a:r>
            <a:r>
              <a:rPr dirty="0" err="1"/>
              <a:t>implementación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33375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794760"/>
            <a:ext cx="73152" cy="160020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95935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Revenue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34840"/>
            <a:ext cx="2926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Incentiva captación y permanencia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94760"/>
            <a:ext cx="33375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3794760"/>
            <a:ext cx="73152" cy="160020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395935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SaaS recurrente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434840"/>
            <a:ext cx="2926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Construye ingresos mensuales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94760"/>
            <a:ext cx="33375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794760"/>
            <a:ext cx="73152" cy="16002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395935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Operación remota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34840"/>
            <a:ext cx="2926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Facilita expansión internacional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5264D"/>
                </a:solidFill>
                <a:latin typeface="Aptos Display"/>
              </a:defRPr>
            </a:pPr>
            <a:r>
              <a:t>12. Tablero de seguimiento estratégico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  <a:latin typeface="Aptos"/>
              </a:defRPr>
            </a:pPr>
            <a:r>
              <a:t>Indicadores sugeridos para gestionar la ejecución del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  <a:latin typeface="Aptos"/>
              </a:defRPr>
            </a:pPr>
            <a:r>
              <a:t>NyTEX ERP  |  INTEGRA · OPTIMIZA · HAZ CRECER                                    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47472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73152" cy="118872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647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MRR / 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Ingreso recurrente de licencias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600200"/>
            <a:ext cx="347472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16552" y="1600200"/>
            <a:ext cx="73152" cy="118872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7647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Clientes activos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24028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Base SaaS en operación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1600200"/>
            <a:ext cx="347472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38744" y="1600200"/>
            <a:ext cx="73152" cy="118872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67344" y="17647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ARPU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24028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Ingreso promedio por cliente/usuario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08960"/>
            <a:ext cx="347472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108960"/>
            <a:ext cx="73152" cy="118872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27355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Partners activos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490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Capacidad comercial efectiva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3108960"/>
            <a:ext cx="347472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16552" y="3108960"/>
            <a:ext cx="73152" cy="118872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45152" y="327355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Clientes por Partner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7490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Productividad de la 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38744" y="3108960"/>
            <a:ext cx="347472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38744" y="3108960"/>
            <a:ext cx="73152" cy="118872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67344" y="327355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Conversión a pago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7490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Auto-Guiado → servicios/licencias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617720"/>
            <a:ext cx="347472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4360" y="4617720"/>
            <a:ext cx="73152" cy="118872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478231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Tiempo a Go-Live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25780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Velocidad de implementación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16552" y="4617720"/>
            <a:ext cx="347472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16552" y="4617720"/>
            <a:ext cx="73152" cy="118872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45152" y="478231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Churn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52" y="525780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Retención de suscripciones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38744" y="4617720"/>
            <a:ext cx="347472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38744" y="4617720"/>
            <a:ext cx="73152" cy="118872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67344" y="478231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SLA / quejas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7344" y="525780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Calidad del servicio Partner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13. Hoja de ruta de ejecución — 90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EC3C8"/>
                </a:solidFill>
                <a:latin typeface="Aptos"/>
              </a:defRPr>
            </a:pPr>
            <a:r>
              <a:t>Secuencia sugerida para convertir el plan en operación comercial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914400" cy="54864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920240" cy="639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  <a:latin typeface="Aptos"/>
              </a:defRPr>
            </a:pPr>
            <a:r>
              <a:t>NyTEX ERP  |  INTEGRA · OPTIMIZA · HAZ CRECER                                    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347472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0–30 DÍAS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297180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• Cerrar arquitectura de precios</a:t>
            </a:r>
            <a:br/>
            <a:r>
              <a:t>• Formalizar contrato Partner</a:t>
            </a:r>
            <a:br/>
            <a:r>
              <a:t>• Definir onboarding y certificación</a:t>
            </a:r>
            <a:br/>
            <a:r>
              <a:t>• Publicar paquetes y alcances</a:t>
            </a:r>
            <a:br/>
            <a:r>
              <a:t>• Configurar cobro recurrente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828800"/>
            <a:ext cx="338328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828800"/>
            <a:ext cx="73152" cy="3474720"/>
          </a:xfrm>
          <a:prstGeom prst="rect">
            <a:avLst/>
          </a:prstGeom>
          <a:solidFill>
            <a:srgbClr val="00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19933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31–60 DÍAS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468880"/>
            <a:ext cx="297180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• Reclutar Partners piloto</a:t>
            </a:r>
            <a:br/>
            <a:r>
              <a:t>• Capacitar en producto y venta</a:t>
            </a:r>
            <a:br/>
            <a:r>
              <a:t>• Ejecutar primeras implementaciones</a:t>
            </a:r>
            <a:br/>
            <a:r>
              <a:t>• Medir tiempos y GAPs</a:t>
            </a:r>
            <a:br/>
            <a:r>
              <a:t>• Ajustar material comercial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828800"/>
            <a:ext cx="338328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73152" cy="347472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1896" y="19933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5264D"/>
                </a:solidFill>
              </a:defRPr>
            </a:pPr>
            <a:r>
              <a:t>61–90 DÍAS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468880"/>
            <a:ext cx="297180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01924"/>
                </a:solidFill>
              </a:defRPr>
            </a:pPr>
            <a:r>
              <a:t>• Escalar captación</a:t>
            </a:r>
            <a:br/>
            <a:r>
              <a:t>• Activar referidos y revenue share</a:t>
            </a:r>
            <a:br/>
            <a:r>
              <a:t>• Dashboard de KPIs</a:t>
            </a:r>
            <a:br/>
            <a:r>
              <a:t>• Control de SLA</a:t>
            </a:r>
            <a:br/>
            <a:r>
              <a:t>• Preparar expansión geográfica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31aaa082-8d19-48cd-bc27-24d123cb15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594360"/>
            <a:ext cx="6217920" cy="2070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33832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UN ECOSISTEMA DISEÑADO PARA ESCALAR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0"/>
            <a:ext cx="9235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00BCFF"/>
                </a:solidFill>
              </a:defRPr>
            </a:pPr>
            <a:r>
              <a:t>Software recurrente + Partners especializados + implementación transparente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486400"/>
            <a:ext cx="9235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EC3C8"/>
                </a:solidFill>
              </a:defRPr>
            </a:pPr>
            <a:r>
              <a:t>INTEGRA  |  OPTIMIZA  |  HAZ CRECER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1286</Words>
  <Application>Microsoft Office PowerPoint</Application>
  <PresentationFormat>Panorámica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Emilio Consultor</dc:creator>
  <cp:keywords/>
  <dc:description>generated using python-pptx</dc:description>
  <cp:lastModifiedBy>Emilio Belismelis</cp:lastModifiedBy>
  <cp:revision>3</cp:revision>
  <dcterms:created xsi:type="dcterms:W3CDTF">2013-01-27T09:14:16Z</dcterms:created>
  <dcterms:modified xsi:type="dcterms:W3CDTF">2026-09-20T00:43:08Z</dcterms:modified>
  <cp:category/>
</cp:coreProperties>
</file>